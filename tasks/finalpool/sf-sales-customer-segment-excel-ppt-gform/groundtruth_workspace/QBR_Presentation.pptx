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Customer Segment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36699"/>
                </a:solidFill>
              </a:defRPr>
            </a:pPr>
            <a:r>
              <a:t>Quarterly Business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</a:defRPr>
            </a:pPr>
            <a:r>
              <a:t>Sales Strategy Team | Q1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Segment Performance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</a:defRPr>
            </a:pPr>
            <a:r>
              <a:t>Segment          Customers     Orders         Revenue        AOV    Rev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/>
            </a:pPr>
            <a:r>
              <a:t>Consumer               532      5,423 $    839,609.20 $   154.82    27.5%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/>
            </a:pPr>
            <a:r>
              <a:t>Enterprise             513      5,058 $    793,741.69 $   156.93    26.0%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/>
            </a:pPr>
            <a:r>
              <a:t>Government             474      4,679 $    712,686.66 $   152.32    23.4%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7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/>
            </a:pPr>
            <a:r>
              <a:t>SMB                    481      4,840 $    702,960.78 $   145.24    23.1%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5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00"/>
                </a:solidFill>
              </a:defRPr>
            </a:pPr>
            <a:r>
              <a:t>Total Revenue: $3,048,998.33 across 2,000 customers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Regional Breakdown by Segment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</a:defRPr>
            </a:pPr>
            <a:r>
              <a:t>Region           Segment       Customers   Orders        Revenue Profit Idx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Asia Pacific     Consumer            105     1068 $   161,397.65      45.6%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105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Asia Pacific     Enterprise          107     1098 $   180,552.51      45.1%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6654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Asia Pacific     Government          103     1023 $   150,502.27      45.5%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2257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Asia Pacific     SMB                 101     1009 $   150,192.38      45.5%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Europe           Consumer            110     1132 $   178,662.18      45.6%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Europe           Enterprise          104     1018 $   174,466.99      45.2%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906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Europe           Government           97      943 $   136,984.90      45.2%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4670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Europe           SMB                  99     1007 $   158,684.40      45.3%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0273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Latin America    Consumer             98     1008 $   163,035.19      44.8%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58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Latin America    Enterprise           93      932 $   145,933.84      45.8%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Latin America    Government           85      836 $   128,210.82      44.9%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708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Latin America    SMB                  92      921 $   111,949.30      45.3%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2686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Middle East      Consumer            106     1081 $   158,475.82      45.1%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8289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Middle East      Enterprise           92      913 $   134,638.81      45.1%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389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Middle East      Government           94      902 $   147,075.70      45.1%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94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Middle East      SMB                 101      976 $   161,917.22      45.2%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6509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North America    Consumer            113     1134 $   178,038.36      45.3%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0702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North America    Enterprise          117     1097 $   158,149.54      44.9%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16305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North America    Government           95      975 $   149,912.97      45.2%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19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/>
            </a:pPr>
            <a:r>
              <a:t>North America    SMB                  88      927 $   120,217.48      45.7%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Strategic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B4"/>
                </a:solidFill>
              </a:defRPr>
            </a:pPr>
            <a:r>
              <a:t>Consumer: Cash Cow (Rev: 27.5%, Growth: Low, Profit: 45.3%)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783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</a:defRPr>
            </a:pPr>
            <a:r>
              <a:t>Action: Maintain current strategy and optimize margins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000"/>
                </a:solidFill>
              </a:defRPr>
            </a:pPr>
            <a:r>
              <a:t>Enterprise: Star (Rev: 26.0%, Growth: High, Profit: 45.2%)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97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</a:defRPr>
            </a:pPr>
            <a:r>
              <a:t>Action: Maximize investment and expand market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40000"/>
                </a:solidFill>
              </a:defRPr>
            </a:pPr>
            <a:r>
              <a:t>Government: Dog (Rev: 23.4%, Growth: Low, Profit: 45.2%)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611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</a:defRPr>
            </a:pPr>
            <a:r>
              <a:t>Action: Reduce costs and consider restructuring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40000"/>
                </a:solidFill>
              </a:defRPr>
            </a:pPr>
            <a:r>
              <a:t>SMB: Dog (Rev: 23.1%, Growth: Low, Profit: 45.4%)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526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</a:defRPr>
            </a:pPr>
            <a:r>
              <a:t>Action: Reduce costs and consider restructuring approach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Top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/>
            </a:pPr>
            <a:r>
              <a:t>1. Enterprise segment shows high growth (50.7% recent orders) with strong revenue contribution (26.0%) - maximize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/>
            </a:pPr>
            <a:r>
              <a:t>2. Consumer segment leads in revenue ($839,609.20, 27.5% share) - maintain and optimize as Cash Cow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3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/>
            </a:pPr>
            <a:r>
              <a:t>3. Asia Pacific and Europe are the strongest regions across segments - focus expansion there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5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/>
            </a:pPr>
            <a:r>
              <a:t>4. All segments show similar profitability (~45%) suggesting pricing strategy is consistent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7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/>
            </a:pPr>
            <a:r>
              <a:t>5. SMB and Government segments need targeted campaigns to accelerate growth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/>
            </a:pPr>
            <a:r>
              <a:t>1. Increase sales team allocation for Enterprise segment to capitalize on growth momentum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/>
            </a:pPr>
            <a:r>
              <a:t>2. Develop targeted retention programs for Consumer segment to protect leading revenue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3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/>
            </a:pPr>
            <a:r>
              <a:t>3. Investigate Government and SMB segments for potential restructuring or new value propositions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5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/>
            </a:pPr>
            <a:r>
              <a:t>4. Launch customer satisfaction survey across segments to gather actionable feedback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7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/>
            </a:pPr>
            <a:r>
              <a:t>5. Review regional pricing and discount strategies to improve SMB average order values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