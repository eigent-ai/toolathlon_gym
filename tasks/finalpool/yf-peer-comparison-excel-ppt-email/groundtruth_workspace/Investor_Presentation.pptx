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Equity Peer Comparison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5 Major Companies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Analyzed:</a:t>
            </a:r>
          </a:p>
          <a:p>
            <a:pPr>
              <a:defRPr sz="1400"/>
            </a:pPr>
            <a:r>
              <a:t>AMZN - Amazon.com, Inc. (Consumer Cyclical)</a:t>
            </a:r>
          </a:p>
          <a:p>
            <a:pPr>
              <a:defRPr sz="1400"/>
            </a:pPr>
            <a:r>
              <a:t>GOOGL - Alphabet Inc. (Communication Services)</a:t>
            </a:r>
          </a:p>
          <a:p>
            <a:pPr>
              <a:defRPr sz="1400"/>
            </a:pPr>
            <a:r>
              <a:t>JNJ - Johnson &amp; Johnson (Healthcare)</a:t>
            </a:r>
          </a:p>
          <a:p>
            <a:pPr>
              <a:defRPr sz="1400"/>
            </a:pPr>
            <a:r>
              <a:t>JPM - JP Morgan Chase &amp; Co. (Financial Services)</a:t>
            </a:r>
          </a:p>
          <a:p>
            <a:pPr>
              <a:defRPr sz="1400"/>
            </a:pPr>
            <a:r>
              <a:t>XOM - Exxon Mobil Corporation (Energy)</a:t>
            </a:r>
          </a:p>
          <a:p/>
          <a:p>
            <a:pPr>
              <a:defRPr sz="1400" b="1"/>
            </a:pPr>
            <a:r>
              <a:t>Total Combined Market Cap: $7.99T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Profiles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pPr>
              <a:defRPr sz="1200"/>
            </a:pPr>
            <a:r>
              <a:t>AMZN: P/E=30.49, Beta=1.42, Div Yield=0.0%, YTD=-3.34%</a:t>
            </a:r>
          </a:p>
          <a:p>
            <a:pPr>
              <a:defRPr sz="1200"/>
            </a:pPr>
            <a:r>
              <a:t>GOOGL: P/E=27.81, Beta=1.11, Div Yield=0.28%, YTD=-4.53%</a:t>
            </a:r>
          </a:p>
          <a:p>
            <a:pPr>
              <a:defRPr sz="1200"/>
            </a:pPr>
            <a:r>
              <a:t>JNJ: P/E=21.71, Beta=0.33, Div Yield=2.12%, YTD=16.18%</a:t>
            </a:r>
          </a:p>
          <a:p>
            <a:pPr>
              <a:defRPr sz="1200"/>
            </a:pPr>
            <a:r>
              <a:t>JPM: P/E=14.66, Beta=1.06, Div Yield=2.0%, YTD=-9.4%</a:t>
            </a:r>
          </a:p>
          <a:p>
            <a:pPr>
              <a:defRPr sz="1200"/>
            </a:pPr>
            <a:r>
              <a:t>XOM: P/E=22.5, Beta=0.35, Div Yield=2.75%, YTD=23.74%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Annual Financials (in billions USD):</a:t>
            </a:r>
          </a:p>
          <a:p>
            <a:pPr>
              <a:defRPr sz="1200"/>
            </a:pPr>
            <a:r>
              <a:t>AMZN: Rev=$716.9B, Net Income=$77.7B, FCF=$7.7B</a:t>
            </a:r>
          </a:p>
          <a:p>
            <a:pPr>
              <a:defRPr sz="1200"/>
            </a:pPr>
            <a:r>
              <a:t>GOOGL: Rev=$402.8B, Net Income=$132.2B, FCF=$73.3B</a:t>
            </a:r>
          </a:p>
          <a:p>
            <a:pPr>
              <a:defRPr sz="1200"/>
            </a:pPr>
            <a:r>
              <a:t>JNJ: Rev=$94.2B, Net Income=$26.8B, FCF=$19.3B</a:t>
            </a:r>
          </a:p>
          <a:p>
            <a:pPr>
              <a:defRPr sz="1200"/>
            </a:pPr>
            <a:r>
              <a:t>JPM: Rev=$181.8B, Net Income=$57.0B, FCF=$-147.8B</a:t>
            </a:r>
          </a:p>
          <a:p>
            <a:pPr>
              <a:defRPr sz="1200"/>
            </a:pPr>
            <a:r>
              <a:t>XOM: Rev=$323.9B, Net Income=$28.8B, FCF=$23.6B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Scoring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Scoring (Valuation 25%, Growth 25%, Income 20%, Risk 15%, Momentum 15%):</a:t>
            </a:r>
          </a:p>
          <a:p>
            <a:pPr>
              <a:defRPr sz="1400"/>
            </a:pPr>
            <a:r>
              <a:t>AMZN: Score=2.05 - Hold</a:t>
            </a:r>
          </a:p>
          <a:p>
            <a:pPr>
              <a:defRPr sz="1400"/>
            </a:pPr>
            <a:r>
              <a:t>GOOGL: Score=2.75 - Hold</a:t>
            </a:r>
          </a:p>
          <a:p>
            <a:pPr>
              <a:defRPr sz="1400"/>
            </a:pPr>
            <a:r>
              <a:t>JNJ: Score=3.65 - Buy</a:t>
            </a:r>
          </a:p>
          <a:p>
            <a:pPr>
              <a:defRPr sz="1400"/>
            </a:pPr>
            <a:r>
              <a:t>JPM: Score=3.2 - Buy</a:t>
            </a:r>
          </a:p>
          <a:p>
            <a:pPr>
              <a:defRPr sz="1400"/>
            </a:pPr>
            <a:r>
              <a:t>XOM: Score=3.35 - Buy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Actions:</a:t>
            </a:r>
          </a:p>
          <a:p>
            <a:pPr>
              <a:defRPr sz="1400" b="1"/>
            </a:pPr>
            <a:r>
              <a:t>Buy: JNJ, JPM, XOM</a:t>
            </a:r>
          </a:p>
          <a:p>
            <a:pPr>
              <a:defRPr sz="1400"/>
            </a:pPr>
            <a:r>
              <a:t>Hold: AMZN, GOOGL</a:t>
            </a:r>
          </a:p>
          <a:p/>
          <a:p>
            <a:pPr>
              <a:defRPr sz="1400" b="1"/>
            </a:pPr>
            <a:r>
              <a:t>Key Insights:</a:t>
            </a:r>
          </a:p>
          <a:p>
            <a:pPr>
              <a:defRPr sz="1200"/>
            </a:pPr>
            <a:r>
              <a:t>Best Valuation: JPM (P/E 14.66)</a:t>
            </a:r>
          </a:p>
          <a:p>
            <a:pPr>
              <a:defRPr sz="1200"/>
            </a:pPr>
            <a:r>
              <a:t>Best Momentum: XOM (YTD 23.74%)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