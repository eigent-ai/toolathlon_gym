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Diversity &amp; Inclusion Board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Workforce Demographics Analysis</a:t>
            </a:r>
          </a:p>
          <a:p>
            <a:r>
              <a:t>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Workforce: 50,000 employees across 7 departments</a:t>
            </a:r>
          </a:p>
          <a:p>
            <a:r>
              <a:t>Average Age: 34.7 years</a:t>
            </a:r>
          </a:p>
          <a:p>
            <a:r>
              <a:t>Average Experience: 8.3 years</a:t>
            </a:r>
          </a:p>
          <a:p>
            <a:r>
              <a:t>5 Education Levels represented</a:t>
            </a:r>
          </a:p>
          <a:p>
            <a:r>
              <a:t>Key Finding: Education distribution closely aligns with industry benchmarks</a:t>
            </a:r>
          </a:p>
          <a:p>
            <a:r>
              <a:t>Area for Improvement: Age diversity in 50+ category below industry average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Education Distribution vs Industry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Bachelor's: ~45% internal vs 42% benchmark (+3% gap)</a:t>
            </a:r>
          </a:p>
          <a:p>
            <a:r>
              <a:t>Diploma: ~20% internal vs 22% benchmark (-2% gap)</a:t>
            </a:r>
          </a:p>
          <a:p>
            <a:r>
              <a:t>High School: ~15% internal vs 18% benchmark (-3% gap)</a:t>
            </a:r>
          </a:p>
          <a:p>
            <a:r>
              <a:t>Master's: ~18% internal vs 14% benchmark (+4% gap)</a:t>
            </a:r>
          </a:p>
          <a:p>
            <a:r>
              <a:t>PhD: ~2% internal vs 4% benchmark (-2% gap)</a:t>
            </a:r>
          </a:p>
          <a:p>
            <a:r>
              <a:t>Overall education levels are well-distributed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 Distribution vs Industry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Under 30: ~31% internal vs 35% benchmark (-4% gap)</a:t>
            </a:r>
          </a:p>
          <a:p>
            <a:r>
              <a:t>30-39: ~39% internal vs 35% benchmark (+4% gap)</a:t>
            </a:r>
          </a:p>
          <a:p>
            <a:r>
              <a:t>40-49: ~24% internal vs 20% benchmark (+4% gap)</a:t>
            </a:r>
          </a:p>
          <a:p>
            <a:r>
              <a:t>50+: ~7% internal vs 10% benchmark (-3% gap)</a:t>
            </a:r>
          </a:p>
          <a:p>
            <a:r>
              <a:t>The workforce skews toward the 30-49 age range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Marital Status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Married: 55.0% internal vs 52.0% benchmark (+3.0% gap)</a:t>
            </a:r>
          </a:p>
          <a:p>
            <a:r>
              <a:t>Single: 45.0% internal vs 48.0% benchmark (-3.0% gap)</a:t>
            </a:r>
          </a:p>
          <a:p>
            <a:r>
              <a:t>Distribution is closely aligned with industry benchmarks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Develop programs to attract and retain employees aged 50+</a:t>
            </a:r>
          </a:p>
          <a:p>
            <a:r>
              <a:t>2. Consider PhD recruitment pipelines for R&amp;D and Engineering</a:t>
            </a:r>
          </a:p>
          <a:p>
            <a:r>
              <a:t>3. Review entry-level hiring to increase Under 30 representation</a:t>
            </a:r>
          </a:p>
          <a:p>
            <a:r>
              <a:t>4. Continue current practices for education diversity</a:t>
            </a:r>
          </a:p>
          <a:p>
            <a:r>
              <a:t>5. Conduct deeper analysis on department-specific gaps</a:t>
            </a:r>
          </a:p>
          <a:p>
            <a:r>
              <a:t>6. Set measurable D&amp;I targets for next fiscal year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