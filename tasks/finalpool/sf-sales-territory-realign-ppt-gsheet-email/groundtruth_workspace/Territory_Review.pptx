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Sales Territory Realignment Review</a:t>
            </a:r>
          </a:p>
          <a:p>
            <a:pPr algn="ctr">
              <a:defRPr sz="1800">
                <a:solidFill>
                  <a:srgbClr val="7F8C8D"/>
                </a:solidFill>
              </a:defRPr>
            </a:pPr>
            <a:r>
              <a:t>Fiscal Year 2024 Performance Analysis and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  Total revenue across all territories: $3,048,998.33 against a combined target of $3,300,000</a:t>
            </a:r>
          </a:p>
          <a:p>
            <a:pPr>
              <a:spcAft>
                <a:spcPts val="800"/>
              </a:spcAft>
              <a:defRPr sz="1400"/>
            </a:pPr>
            <a:r>
              <a:t>  All five regions are currently below their revenue targets, indicating a need for strategic realignment</a:t>
            </a:r>
          </a:p>
          <a:p>
            <a:pPr>
              <a:spcAft>
                <a:spcPts val="800"/>
              </a:spcAft>
              <a:defRPr sz="1400"/>
            </a:pPr>
            <a:r>
              <a:t>  Europe leads with $648,798.47 in revenue, followed by Asia Pacific at $642,644.81</a:t>
            </a:r>
          </a:p>
          <a:p>
            <a:pPr>
              <a:spcAft>
                <a:spcPts val="800"/>
              </a:spcAft>
              <a:defRPr sz="1400"/>
            </a:pPr>
            <a:r>
              <a:t>  Latin America has the largest gap to target and requires immediate intervention</a:t>
            </a:r>
          </a:p>
          <a:p>
            <a:pPr>
              <a:spcAft>
                <a:spcPts val="800"/>
              </a:spcAft>
              <a:defRPr sz="1400"/>
            </a:pPr>
            <a:r>
              <a:t>  Three regions (Asia Pacific, Europe, Latin America) classified as High Priority for realignment</a:t>
            </a:r>
          </a:p>
          <a:p>
            <a:pPr>
              <a:spcAft>
                <a:spcPts val="800"/>
              </a:spcAft>
              <a:defRPr sz="1400"/>
            </a:pPr>
            <a:r>
              <a:t>  Average revenue per customer ranges from $1,468.08 (North America) to $1,582.44 (Europe)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Regional Performance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Avg Order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Asia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$642,644.81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Below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$648,798.47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$158.24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Below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$549,129.15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$148.53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Below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Middle 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$602,107.55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Below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$606,318.35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$146.70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Segment Mix by Territory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 b="1"/>
            </a:pPr>
            <a:r>
              <a:t>Asia Pacific:</a:t>
            </a:r>
          </a:p>
          <a:p>
            <a:pPr>
              <a:defRPr sz="1200"/>
            </a:pPr>
            <a:r>
              <a:t>    Consumer: 1068 orders, $161,397.65 (25.1%)</a:t>
            </a:r>
          </a:p>
          <a:p>
            <a:pPr>
              <a:defRPr sz="1200"/>
            </a:pPr>
            <a:r>
              <a:t>    Enterprise: 1098 orders, $180,552.51 (28.1%)</a:t>
            </a:r>
          </a:p>
          <a:p>
            <a:pPr>
              <a:defRPr sz="1200"/>
            </a:pPr>
            <a:r>
              <a:t>    Government: 1023 orders, $150,502.27 (23.4%)</a:t>
            </a:r>
          </a:p>
          <a:p>
            <a:pPr>
              <a:defRPr sz="1200"/>
            </a:pPr>
            <a:r>
              <a:t>    SMB: 1009 orders, $150,192.38 (23.4%)</a:t>
            </a:r>
          </a:p>
          <a:p>
            <a:pPr>
              <a:spcBef>
                <a:spcPts val="1000"/>
              </a:spcBef>
              <a:defRPr sz="1400" b="1"/>
            </a:pPr>
            <a:r>
              <a:t>Europe:</a:t>
            </a:r>
          </a:p>
          <a:p>
            <a:pPr>
              <a:defRPr sz="1200"/>
            </a:pPr>
            <a:r>
              <a:t>    Consumer: 1132 orders, $178,662.18 (27.5%)</a:t>
            </a:r>
          </a:p>
          <a:p>
            <a:pPr>
              <a:defRPr sz="1200"/>
            </a:pPr>
            <a:r>
              <a:t>    Enterprise: 1018 orders, $174,466.99 (26.9%)</a:t>
            </a:r>
          </a:p>
          <a:p>
            <a:pPr>
              <a:defRPr sz="1200"/>
            </a:pPr>
            <a:r>
              <a:t>    Government: 943 orders, $136,984.90 (21.1%)</a:t>
            </a:r>
          </a:p>
          <a:p>
            <a:pPr>
              <a:defRPr sz="1200"/>
            </a:pPr>
            <a:r>
              <a:t>    SMB: 1007 orders, $158,684.40 (24.5%)</a:t>
            </a:r>
          </a:p>
          <a:p>
            <a:pPr>
              <a:spcBef>
                <a:spcPts val="1000"/>
              </a:spcBef>
              <a:defRPr sz="1400" b="1"/>
            </a:pPr>
            <a:r>
              <a:t>Latin America:</a:t>
            </a:r>
          </a:p>
          <a:p>
            <a:pPr>
              <a:defRPr sz="1200"/>
            </a:pPr>
            <a:r>
              <a:t>    Consumer: 1008 orders, $163,035.19 (29.7%)</a:t>
            </a:r>
          </a:p>
          <a:p>
            <a:pPr>
              <a:defRPr sz="1200"/>
            </a:pPr>
            <a:r>
              <a:t>    Enterprise: 932 orders, $145,933.84 (26.6%)</a:t>
            </a:r>
          </a:p>
          <a:p>
            <a:pPr>
              <a:defRPr sz="1200"/>
            </a:pPr>
            <a:r>
              <a:t>    Government: 836 orders, $128,210.82 (23.3%)</a:t>
            </a:r>
          </a:p>
          <a:p>
            <a:pPr>
              <a:defRPr sz="1200"/>
            </a:pPr>
            <a:r>
              <a:t>    SMB: 921 orders, $111,949.30 (20.4%)</a:t>
            </a:r>
          </a:p>
          <a:p>
            <a:pPr>
              <a:spcBef>
                <a:spcPts val="1000"/>
              </a:spcBef>
              <a:defRPr sz="1400" b="1"/>
            </a:pPr>
            <a:r>
              <a:t>Middle East:</a:t>
            </a:r>
          </a:p>
          <a:p>
            <a:pPr>
              <a:defRPr sz="1200"/>
            </a:pPr>
            <a:r>
              <a:t>    Consumer: 1081 orders, $158,475.82 (26.3%)</a:t>
            </a:r>
          </a:p>
          <a:p>
            <a:pPr>
              <a:defRPr sz="1200"/>
            </a:pPr>
            <a:r>
              <a:t>    Enterprise: 913 orders, $134,638.81 (22.4%)</a:t>
            </a:r>
          </a:p>
          <a:p>
            <a:pPr>
              <a:defRPr sz="1200"/>
            </a:pPr>
            <a:r>
              <a:t>    Government: 902 orders, $147,075.70 (24.4%)</a:t>
            </a:r>
          </a:p>
          <a:p>
            <a:pPr>
              <a:defRPr sz="1200"/>
            </a:pPr>
            <a:r>
              <a:t>    SMB: 976 orders, $161,917.22 (26.9%)</a:t>
            </a:r>
          </a:p>
          <a:p>
            <a:pPr>
              <a:spcBef>
                <a:spcPts val="1000"/>
              </a:spcBef>
              <a:defRPr sz="1400" b="1"/>
            </a:pPr>
            <a:r>
              <a:t>North America:</a:t>
            </a:r>
          </a:p>
          <a:p>
            <a:pPr>
              <a:defRPr sz="1200"/>
            </a:pPr>
            <a:r>
              <a:t>    Consumer: 1134 orders, $178,038.36 (29.4%)</a:t>
            </a:r>
          </a:p>
          <a:p>
            <a:pPr>
              <a:defRPr sz="1200"/>
            </a:pPr>
            <a:r>
              <a:t>    Enterprise: 1097 orders, $158,149.54 (26.1%)</a:t>
            </a:r>
          </a:p>
          <a:p>
            <a:pPr>
              <a:defRPr sz="1200"/>
            </a:pPr>
            <a:r>
              <a:t>    Government: 975 orders, $149,912.97 (24.7%)</a:t>
            </a:r>
          </a:p>
          <a:p>
            <a:pPr>
              <a:defRPr sz="1200"/>
            </a:pPr>
            <a:r>
              <a:t>    SMB: 927 orders, $120,217.48 (19.8%)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Territory Realignment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/>
            </a:pPr>
            <a:r>
              <a:t>Asia Pacific (High Priority)</a:t>
            </a:r>
          </a:p>
          <a:p>
            <a:pPr>
              <a:defRPr sz="1300"/>
            </a:pPr>
            <a:r>
              <a:t>    Current: $642,644.81 | Target: $700,000.00 | Gap: $-57,355.19</a:t>
            </a:r>
          </a:p>
          <a:p>
            <a:pPr>
              <a:defRPr sz="1300"/>
            </a:pPr>
            <a:r>
              <a:t>    Action: Increase sales headcount and launch targeted campaigns</a:t>
            </a:r>
          </a:p>
          <a:p>
            <a:pPr>
              <a:spcBef>
                <a:spcPts val="1200"/>
              </a:spcBef>
              <a:defRPr sz="1600" b="1"/>
            </a:pPr>
            <a:r>
              <a:t>Europe (High Priority)</a:t>
            </a:r>
          </a:p>
          <a:p>
            <a:pPr>
              <a:defRPr sz="1300"/>
            </a:pPr>
            <a:r>
              <a:t>    Current: $648,798.47 | Target: $700,000.00 | Gap: $-51,201.53</a:t>
            </a:r>
          </a:p>
          <a:p>
            <a:pPr>
              <a:defRPr sz="1300"/>
            </a:pPr>
            <a:r>
              <a:t>    Action: Increase sales headcount and launch targeted campaigns</a:t>
            </a:r>
          </a:p>
          <a:p>
            <a:pPr>
              <a:spcBef>
                <a:spcPts val="1200"/>
              </a:spcBef>
              <a:defRPr sz="1600" b="1"/>
            </a:pPr>
            <a:r>
              <a:t>Latin America (High Priority)</a:t>
            </a:r>
          </a:p>
          <a:p>
            <a:pPr>
              <a:defRPr sz="1300"/>
            </a:pPr>
            <a:r>
              <a:t>    Current: $549,129.15 | Target: $600,000.00 | Gap: $-50,870.85</a:t>
            </a:r>
          </a:p>
          <a:p>
            <a:pPr>
              <a:defRPr sz="1300"/>
            </a:pPr>
            <a:r>
              <a:t>    Action: Increase sales headcount and launch targeted campaigns</a:t>
            </a:r>
          </a:p>
          <a:p>
            <a:pPr>
              <a:spcBef>
                <a:spcPts val="1200"/>
              </a:spcBef>
              <a:defRPr sz="1600" b="1"/>
            </a:pPr>
            <a:r>
              <a:t>Middle East (Medium Priority)</a:t>
            </a:r>
          </a:p>
          <a:p>
            <a:pPr>
              <a:defRPr sz="1300"/>
            </a:pPr>
            <a:r>
              <a:t>    Current: $602,107.55 | Target: $650,000.00 | Gap: $-47,892.45</a:t>
            </a:r>
          </a:p>
          <a:p>
            <a:pPr>
              <a:defRPr sz="1300"/>
            </a:pPr>
            <a:r>
              <a:t>    Action: Monitor closely and evaluate channel partner effectiveness</a:t>
            </a:r>
          </a:p>
          <a:p>
            <a:pPr>
              <a:spcBef>
                <a:spcPts val="1200"/>
              </a:spcBef>
              <a:defRPr sz="1600" b="1"/>
            </a:pPr>
            <a:r>
              <a:t>North America (Medium Priority)</a:t>
            </a:r>
          </a:p>
          <a:p>
            <a:pPr>
              <a:defRPr sz="1300"/>
            </a:pPr>
            <a:r>
              <a:t>    Current: $606,318.35 | Target: $650,000.00 | Gap: $-43,681.65</a:t>
            </a:r>
          </a:p>
          <a:p>
            <a:pPr>
              <a:defRPr sz="1300"/>
            </a:pPr>
            <a:r>
              <a:t>    Action: Monitor closely and evaluate channel partner effectiveness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  1. Regional managers to submit territory action plans within 30 days</a:t>
            </a:r>
          </a:p>
          <a:p>
            <a:pPr>
              <a:spcAft>
                <a:spcPts val="1000"/>
              </a:spcAft>
              <a:defRPr sz="1600"/>
            </a:pPr>
            <a:r>
              <a:t>  2. Finance team to model revised targets based on realignment proposals</a:t>
            </a:r>
          </a:p>
          <a:p>
            <a:pPr>
              <a:spcAft>
                <a:spcPts val="1000"/>
              </a:spcAft>
              <a:defRPr sz="1600"/>
            </a:pPr>
            <a:r>
              <a:t>  3. HR to assess staffing needs for high-priority territories</a:t>
            </a:r>
          </a:p>
          <a:p>
            <a:pPr>
              <a:spcAft>
                <a:spcPts val="1000"/>
              </a:spcAft>
              <a:defRPr sz="1600"/>
            </a:pPr>
            <a:r>
              <a:t>  4. Marketing to develop region-specific campaign strategies</a:t>
            </a:r>
          </a:p>
          <a:p>
            <a:pPr>
              <a:spcAft>
                <a:spcPts val="1000"/>
              </a:spcAft>
              <a:defRPr sz="1600"/>
            </a:pPr>
            <a:r>
              <a:t>  5. Quarterly review meetings to track realignment progress</a:t>
            </a:r>
          </a:p>
          <a:p>
            <a:pPr>
              <a:spcAft>
                <a:spcPts val="1000"/>
              </a:spcAft>
              <a:defRPr sz="1600"/>
            </a:pPr>
            <a:r>
              <a:t>  6. Board approval required for any territory boundary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