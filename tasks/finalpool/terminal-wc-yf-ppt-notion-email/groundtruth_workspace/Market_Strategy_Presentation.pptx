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Market Positioning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Macroeconomic Impact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AMZN (Amazon): Average close $206.45, +26.2% change, volatility $21.87</a:t>
            </a:r>
          </a:p>
          <a:p>
            <a:r>
              <a:t>JPM (JPMorgan): Average close $249.65, +61.7% change, volatility $45.59</a:t>
            </a:r>
          </a:p>
          <a:p>
            <a:r>
              <a:t>^DJI (Dow Jones): Average close 43,254, +24.0% change, volatility 3,287</a:t>
            </a:r>
          </a:p>
          <a:p/>
          <a:p>
            <a:r>
              <a:t>The financial sector (JPM) showed the strongest growth, indicating robust consumer credit conditions. Broad market (DJI) and consumer discretionary (AMZN) both showed healthy upward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Monthly Revenue (2025-03 to 2026-02):</a:t>
            </a:r>
          </a:p>
          <a:p>
            <a:r>
              <a:t>2025-03: $590</a:t>
            </a:r>
          </a:p>
          <a:p>
            <a:r>
              <a:t>2025-04: $3,102</a:t>
            </a:r>
          </a:p>
          <a:p>
            <a:r>
              <a:t>2025-05: $4,343</a:t>
            </a:r>
          </a:p>
          <a:p>
            <a:r>
              <a:t>2025-06: $8,532</a:t>
            </a:r>
          </a:p>
          <a:p>
            <a:r>
              <a:t>2025-07: $2,187</a:t>
            </a:r>
          </a:p>
          <a:p>
            <a:r>
              <a:t>2025-08: $1,686</a:t>
            </a:r>
          </a:p>
          <a:p>
            <a:r>
              <a:t>2025-09: $2,650</a:t>
            </a:r>
          </a:p>
          <a:p>
            <a:r>
              <a:t>2025-10: $1,576</a:t>
            </a:r>
          </a:p>
          <a:p>
            <a:r>
              <a:t>2025-11: $956</a:t>
            </a:r>
          </a:p>
          <a:p>
            <a:r>
              <a:t>2025-12: $6,270</a:t>
            </a:r>
          </a:p>
          <a:p>
            <a:r>
              <a:t>2026-01: $4,242</a:t>
            </a:r>
          </a:p>
          <a:p>
            <a:r>
              <a:t>2026-02: $3,256</a:t>
            </a:r>
          </a:p>
          <a:p/>
          <a:p>
            <a:r>
              <a:t>Peak revenue in June 2025 ($8,532) and December 2025 ($6,270). Total annual revenue approximately $39,391.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by Product Category:</a:t>
            </a:r>
          </a:p>
          <a:p>
            <a:r>
              <a:t>Electronics: Revenue $13,899, Avg Price $61.13</a:t>
            </a:r>
          </a:p>
          <a:p>
            <a:r>
              <a:t>TV &amp; Home Theater: Revenue $11,954, Avg Price $304.90</a:t>
            </a:r>
          </a:p>
          <a:p>
            <a:r>
              <a:t>Audio: Revenue $5,840, Avg Price $78.05</a:t>
            </a:r>
          </a:p>
          <a:p>
            <a:r>
              <a:t>Home Appliances: Revenue $1,739, Avg Price $35.77</a:t>
            </a:r>
          </a:p>
          <a:p>
            <a:r>
              <a:t>Watches: Revenue $1,634, Avg Price $60.69</a:t>
            </a:r>
          </a:p>
          <a:p>
            <a:r>
              <a:t>Cameras: Revenue $1,531, Avg Price $23.91</a:t>
            </a:r>
          </a:p>
          <a:p/>
          <a:p>
            <a:r>
              <a:t>Electronics and TV &amp; Home Theater account for 66% of total category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Pearson Correlation (Monthly Revenue vs Market Indices):</a:t>
            </a:r>
          </a:p>
          <a:p>
            <a:r>
              <a:t>WC Revenue vs AMZN: r = -0.02 (No significant correlation)</a:t>
            </a:r>
          </a:p>
          <a:p>
            <a:r>
              <a:t>WC Revenue vs JPM: r = -0.05 (No significant correlation)</a:t>
            </a:r>
          </a:p>
          <a:p>
            <a:r>
              <a:t>WC Revenue vs DJI: r = -0.01 (No significant correlation)</a:t>
            </a:r>
          </a:p>
          <a:p/>
          <a:p>
            <a:r>
              <a:t>Finding: E-commerce revenue operates independently of major market indices. Revenue fluctuations are driven by seasonal patterns and internal factors rather than macroeconomic conditions.</a:t>
            </a:r>
          </a:p>
          <a:p/>
          <a:p>
            <a:r>
              <a:t>Recommendation: Independent pricing strategy - no need to adjust prices based on market movements.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 Strategy: Independent pricing strategy (low market correlation)</a:t>
            </a:r>
          </a:p>
          <a:p/>
          <a:p>
            <a:r>
              <a:t>Category Actions:</a:t>
            </a:r>
          </a:p>
          <a:p>
            <a:r>
              <a:t>1. Electronics: Maintain aggressive pricing - top revenue generator</a:t>
            </a:r>
          </a:p>
          <a:p>
            <a:r>
              <a:t>2. TV &amp; Home Theater: Premium positioning - high avg price drives revenue</a:t>
            </a:r>
          </a:p>
          <a:p>
            <a:r>
              <a:t>3. Audio: Growth opportunity - expand product line</a:t>
            </a:r>
          </a:p>
          <a:p>
            <a:r>
              <a:t>4. Cameras: Improve margins - low avg price, moderate volume</a:t>
            </a:r>
          </a:p>
          <a:p>
            <a:r>
              <a:t>5. Home Appliances: Negotiate supplier costs to improve profitability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 Items:</a:t>
            </a:r>
          </a:p>
          <a:p>
            <a:r>
              <a:t>1. Review pricing for TV &amp; Home Theater category by April 15, 2026</a:t>
            </a:r>
          </a:p>
          <a:p>
            <a:r>
              <a:t>2. Launch Electronics promotion campaign by April 1, 2026</a:t>
            </a:r>
          </a:p>
          <a:p>
            <a:r>
              <a:t>3. Expand Audio product line - target May 2026</a:t>
            </a:r>
          </a:p>
          <a:p>
            <a:r>
              <a:t>4. Optimize Camera inventory levels by April 10, 2026</a:t>
            </a:r>
          </a:p>
          <a:p>
            <a:r>
              <a:t>5. Negotiate supplier costs for Home Appliances by May 15,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